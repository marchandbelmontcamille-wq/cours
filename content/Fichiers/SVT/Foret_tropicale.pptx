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4660"/>
  </p:normalViewPr>
  <p:slideViewPr>
    <p:cSldViewPr snapToGrid="0">
      <p:cViewPr varScale="1">
        <p:scale>
          <a:sx n="59" d="100"/>
          <a:sy n="59" d="100"/>
        </p:scale>
        <p:origin x="6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655B85-A0E3-4C35-A57A-2705705C7F75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F5F75-012F-44A2-ACBE-8E08629E61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0892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F5F75-012F-44A2-ACBE-8E08629E61D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0146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6F0A49-7741-C72F-42D1-0087CDE43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616584-A59F-4918-C19A-A894250CB5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F14B3A-AB23-B82F-251A-464CCD2A8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6DF60-B994-4DC4-9C08-AC2C2D5A39B7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63C4A0-0AD7-95E1-7E68-7DC7D1B5A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997416-CCDE-9C94-3025-D844099F3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F9E55-4A52-46A4-ADBE-8EF9B54C7D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4616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12DDB7-8B92-E0DF-7FED-194D1E3C0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B1AED6-E49C-63F2-61CF-D3A41ABAD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B2F049-459D-0AA1-0B87-FBC606E3F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6DF60-B994-4DC4-9C08-AC2C2D5A39B7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ABC32F-C094-0256-1848-02C9541CA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B8E0C2-6260-8C79-C91A-AD408837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F9E55-4A52-46A4-ADBE-8EF9B54C7D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4317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80F164-66FF-5633-FA58-62A6D44F2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DF6738-B2F9-7134-3925-C83265A7F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53BDF1-C9FA-CF11-42C3-D9586B3C0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6DF60-B994-4DC4-9C08-AC2C2D5A39B7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9383F8-3F85-4298-FC83-616BDB96B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28B013-A614-B7AC-C776-D02BC6015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F9E55-4A52-46A4-ADBE-8EF9B54C7D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8749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7E9C71-B632-AB12-A6BF-E658F6B47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84BBF3-F145-B20D-5D11-7B8B0BB7E7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05A155-7537-09C7-5488-624EBFB6A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F3C9102-CB18-AFB6-1F43-E7B6B80E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6DF60-B994-4DC4-9C08-AC2C2D5A39B7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E1E0B42-F593-4A12-7E88-26B34330C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5422C3-2330-81CC-32C2-49EAD678E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F9E55-4A52-46A4-ADBE-8EF9B54C7D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6571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5ED934-B9DE-DAD4-0ADE-55136849E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8B95A42-B3BF-F0C6-5ADA-53673391C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98345B8-FA78-71D6-5442-5D96A0D8E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D30DCD9-E69E-88FB-1246-6EAAF09597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A464EC2-8F9C-3C88-E46B-72FCE45F8B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B5A76C2-3AFF-2133-FE36-7DE985FC3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6DF60-B994-4DC4-9C08-AC2C2D5A39B7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E6C52DC-8FB1-F41B-B748-C69684920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CFB2AFF-AD67-F5E2-E996-6E40EC0F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F9E55-4A52-46A4-ADBE-8EF9B54C7D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0579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E2672F-57A4-CC00-BE71-FEB7DBC37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59E3FB4-F07E-0C24-5EBE-62866C68C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6DF60-B994-4DC4-9C08-AC2C2D5A39B7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0A0A513-D00F-44D7-59E9-099057740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074AF9B-E012-C89A-03DD-1C75EA8E7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F9E55-4A52-46A4-ADBE-8EF9B54C7D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7900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C8C18C9-37B0-F44E-9D5C-520451C2D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6DF60-B994-4DC4-9C08-AC2C2D5A39B7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F50247B-ED89-DE94-0DD8-5A16C7394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9F84F1-F08C-B0B9-5080-3C16ECBBA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F9E55-4A52-46A4-ADBE-8EF9B54C7D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8131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53EF47-92DF-4157-7312-59792C51B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FD891B-789D-1F79-1CB8-234B31F95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261041E-C8B0-E50B-2AA6-86D03C186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0ECFA16-141D-785A-DF9D-7B42B51FC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6DF60-B994-4DC4-9C08-AC2C2D5A39B7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1FDDEBE-D4D8-47BD-B914-21DCE27EA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2955BA2-C65A-E267-6343-894BD0D74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F9E55-4A52-46A4-ADBE-8EF9B54C7D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0023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D24421-A502-AA4D-4076-8CF071FEC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C60AD15-7994-CA56-8C40-82FB4AB7BC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EC1AAD3-5F9B-7CF3-9E5D-1C3B5A3AF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FC5161F-46C1-51AD-B200-F2BA5D376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6DF60-B994-4DC4-9C08-AC2C2D5A39B7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4C7A245-3597-19B4-61E4-1F8461306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0DBB9C-BD29-A7A9-4D86-67E12273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F9E55-4A52-46A4-ADBE-8EF9B54C7D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980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0EEF82-3469-2DDA-10BB-2CA3E0E57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4392240-C1B0-4EA4-B3FB-ABD2EE610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8F8FE0-A7F8-1C71-922E-CA53648C1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6DF60-B994-4DC4-9C08-AC2C2D5A39B7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7B2E24-BECC-2F79-B331-8B9F12B5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F5D5EC-7F67-6623-82BC-83773FC8B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F9E55-4A52-46A4-ADBE-8EF9B54C7D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3583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9A7C1F9-A010-44B3-FCB7-EFAC6F3084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C511796-42E4-D35F-DA31-94CE70342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2985E2-4FF7-FA47-18F3-39D4F6F5D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6DF60-B994-4DC4-9C08-AC2C2D5A39B7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77B15F-3551-9E85-D718-EB4DBDD67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74DA7C-2732-5631-4F2B-F22BC3986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F9E55-4A52-46A4-ADBE-8EF9B54C7D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621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F5D15CE-5F89-A318-A707-586000473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7A8F07D-CC10-3AF7-E4C6-2D80F440A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DD243A-C6CC-F4EF-3F03-54A618C5EA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66DF60-B994-4DC4-9C08-AC2C2D5A39B7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ED4087-2BD0-8604-7BCA-CD7F3F9B08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56EC42-BC09-7114-740C-9489C0E041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CF9E55-4A52-46A4-ADBE-8EF9B54C7D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0263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jpe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jpe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9F3A5-600E-839B-A825-E0F670325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Vidéo 6">
            <a:hlinkClick r:id="" action="ppaction://media"/>
            <a:extLst>
              <a:ext uri="{FF2B5EF4-FFF2-40B4-BE49-F238E27FC236}">
                <a16:creationId xmlns:a16="http://schemas.microsoft.com/office/drawing/2014/main" id="{7962935F-1002-B564-EF69-1E8E628C761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55319C7D-3875-BDE4-F7C1-FBFF7F63DC76}"/>
              </a:ext>
            </a:extLst>
          </p:cNvPr>
          <p:cNvSpPr/>
          <p:nvPr/>
        </p:nvSpPr>
        <p:spPr>
          <a:xfrm>
            <a:off x="386443" y="5987143"/>
            <a:ext cx="11419114" cy="66402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D8E4115-D77B-5300-2AC4-D151FBEA3364}"/>
              </a:ext>
            </a:extLst>
          </p:cNvPr>
          <p:cNvSpPr/>
          <p:nvPr/>
        </p:nvSpPr>
        <p:spPr>
          <a:xfrm>
            <a:off x="386443" y="337457"/>
            <a:ext cx="11419114" cy="5344888"/>
          </a:xfrm>
          <a:prstGeom prst="roundRect">
            <a:avLst>
              <a:gd name="adj" fmla="val 1150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44B8BB6-CA8A-F9E4-FD74-486EEBF265D9}"/>
              </a:ext>
            </a:extLst>
          </p:cNvPr>
          <p:cNvSpPr/>
          <p:nvPr/>
        </p:nvSpPr>
        <p:spPr>
          <a:xfrm>
            <a:off x="386441" y="5987143"/>
            <a:ext cx="11419114" cy="664029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727694A-9750-35D4-1ED2-44CA9CD4E023}"/>
              </a:ext>
            </a:extLst>
          </p:cNvPr>
          <p:cNvSpPr txBox="1"/>
          <p:nvPr/>
        </p:nvSpPr>
        <p:spPr>
          <a:xfrm>
            <a:off x="962871" y="337457"/>
            <a:ext cx="1026625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>
                <a:latin typeface="Abadi" panose="020B0604020104020204" pitchFamily="34" charset="0"/>
              </a:rPr>
              <a:t>L’impact humain sur la forêt tropicale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BF69EE1B-1F73-4448-0533-0B09AD203BE5}"/>
              </a:ext>
            </a:extLst>
          </p:cNvPr>
          <p:cNvSpPr txBox="1">
            <a:spLocks/>
          </p:cNvSpPr>
          <p:nvPr/>
        </p:nvSpPr>
        <p:spPr>
          <a:xfrm>
            <a:off x="1347011" y="6111262"/>
            <a:ext cx="9497974" cy="6500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Mondel Chloé - Soares Diogo - Marchand-Belmont Camille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334B5EA-EA69-F005-4198-FAE976196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707" y="1578768"/>
            <a:ext cx="4933950" cy="3700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8348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183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05271-0E45-6C73-C571-F62EC15E9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Vidéo 6">
            <a:hlinkClick r:id="" action="ppaction://media"/>
            <a:extLst>
              <a:ext uri="{FF2B5EF4-FFF2-40B4-BE49-F238E27FC236}">
                <a16:creationId xmlns:a16="http://schemas.microsoft.com/office/drawing/2014/main" id="{0D93CD0B-6A3F-A0F5-F1DD-6038FBD5DE8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6E558A7-33AA-386D-8CDA-ABCD9F50EA86}"/>
              </a:ext>
            </a:extLst>
          </p:cNvPr>
          <p:cNvSpPr/>
          <p:nvPr/>
        </p:nvSpPr>
        <p:spPr>
          <a:xfrm>
            <a:off x="386443" y="5987143"/>
            <a:ext cx="11419114" cy="66402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C7D8CC6B-8C32-504B-87DA-F26CB9320708}"/>
              </a:ext>
            </a:extLst>
          </p:cNvPr>
          <p:cNvSpPr/>
          <p:nvPr/>
        </p:nvSpPr>
        <p:spPr>
          <a:xfrm>
            <a:off x="386443" y="337457"/>
            <a:ext cx="11419114" cy="5344888"/>
          </a:xfrm>
          <a:prstGeom prst="roundRect">
            <a:avLst>
              <a:gd name="adj" fmla="val 1150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138A3A1-E3CA-5B2C-F692-2FD885830BE6}"/>
              </a:ext>
            </a:extLst>
          </p:cNvPr>
          <p:cNvSpPr/>
          <p:nvPr/>
        </p:nvSpPr>
        <p:spPr>
          <a:xfrm>
            <a:off x="386441" y="5987143"/>
            <a:ext cx="2302330" cy="664029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9D1B5A1-2D8D-C6D4-F657-4288CCC5F597}"/>
              </a:ext>
            </a:extLst>
          </p:cNvPr>
          <p:cNvSpPr txBox="1"/>
          <p:nvPr/>
        </p:nvSpPr>
        <p:spPr>
          <a:xfrm>
            <a:off x="962871" y="337457"/>
            <a:ext cx="1026625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dirty="0">
                <a:latin typeface="Abadi" panose="020B0604020104020204" pitchFamily="34" charset="0"/>
              </a:rPr>
              <a:t>Présentation faune/flore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B4B0AC5-94D8-EAC8-9FDD-35954562971A}"/>
              </a:ext>
            </a:extLst>
          </p:cNvPr>
          <p:cNvSpPr txBox="1"/>
          <p:nvPr/>
        </p:nvSpPr>
        <p:spPr>
          <a:xfrm>
            <a:off x="812247" y="6134491"/>
            <a:ext cx="1450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Présentation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968A7FA-4334-17B1-F275-28F77A5EFB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47" y="1714500"/>
            <a:ext cx="5143500" cy="3429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351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18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63876-7095-DFB9-C3EE-77336D74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Vidéo 6">
            <a:hlinkClick r:id="" action="ppaction://media"/>
            <a:extLst>
              <a:ext uri="{FF2B5EF4-FFF2-40B4-BE49-F238E27FC236}">
                <a16:creationId xmlns:a16="http://schemas.microsoft.com/office/drawing/2014/main" id="{8F6D7201-06A6-9F16-95BE-745A9835046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D5706D52-DD01-BFE1-0211-3D220067F0EF}"/>
              </a:ext>
            </a:extLst>
          </p:cNvPr>
          <p:cNvSpPr/>
          <p:nvPr/>
        </p:nvSpPr>
        <p:spPr>
          <a:xfrm>
            <a:off x="386443" y="5987143"/>
            <a:ext cx="11419114" cy="66402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C45F377-4C27-4647-2EF0-9353F96FDAEE}"/>
              </a:ext>
            </a:extLst>
          </p:cNvPr>
          <p:cNvSpPr/>
          <p:nvPr/>
        </p:nvSpPr>
        <p:spPr>
          <a:xfrm>
            <a:off x="386443" y="337457"/>
            <a:ext cx="11419114" cy="5344888"/>
          </a:xfrm>
          <a:prstGeom prst="roundRect">
            <a:avLst>
              <a:gd name="adj" fmla="val 1150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13187A0-69AF-A34B-2902-E29E93268490}"/>
              </a:ext>
            </a:extLst>
          </p:cNvPr>
          <p:cNvSpPr/>
          <p:nvPr/>
        </p:nvSpPr>
        <p:spPr>
          <a:xfrm>
            <a:off x="2650670" y="5987143"/>
            <a:ext cx="2302330" cy="664029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FA95839-D9C0-675C-06C1-322CAE98763C}"/>
              </a:ext>
            </a:extLst>
          </p:cNvPr>
          <p:cNvSpPr txBox="1"/>
          <p:nvPr/>
        </p:nvSpPr>
        <p:spPr>
          <a:xfrm>
            <a:off x="962871" y="337457"/>
            <a:ext cx="1026625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>
                <a:latin typeface="Abadi" panose="020B0604020104020204" pitchFamily="34" charset="0"/>
              </a:rPr>
              <a:t>Perte et fragmentation des habitats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4E5A4AB-9A2E-7290-369A-DEBA0B012CC5}"/>
              </a:ext>
            </a:extLst>
          </p:cNvPr>
          <p:cNvSpPr txBox="1"/>
          <p:nvPr/>
        </p:nvSpPr>
        <p:spPr>
          <a:xfrm>
            <a:off x="3271080" y="6134491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Impact 1</a:t>
            </a:r>
          </a:p>
        </p:txBody>
      </p:sp>
      <p:pic>
        <p:nvPicPr>
          <p:cNvPr id="9" name="Image 8" descr="Une image contenant carte, capture d’écran, aérien&#10;&#10;Le contenu généré par l’IA peut être incorrect.">
            <a:extLst>
              <a:ext uri="{FF2B5EF4-FFF2-40B4-BE49-F238E27FC236}">
                <a16:creationId xmlns:a16="http://schemas.microsoft.com/office/drawing/2014/main" id="{1BFBE40D-F83A-023A-8245-DCC0334336E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348"/>
          <a:stretch>
            <a:fillRect/>
          </a:stretch>
        </p:blipFill>
        <p:spPr>
          <a:xfrm>
            <a:off x="962872" y="2289166"/>
            <a:ext cx="4458855" cy="31148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Image 10" descr="Une image contenant carte, Photographie aérienne, aérien, nature&#10;&#10;Le contenu généré par l’IA peut être incorrect.">
            <a:extLst>
              <a:ext uri="{FF2B5EF4-FFF2-40B4-BE49-F238E27FC236}">
                <a16:creationId xmlns:a16="http://schemas.microsoft.com/office/drawing/2014/main" id="{46D5723F-1CC7-6632-200E-7BDE95975C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6146" y="1867170"/>
            <a:ext cx="5807397" cy="35038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3582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18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95D7A-D2A2-938C-062E-DCB99FA6B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Vidéo 6">
            <a:hlinkClick r:id="" action="ppaction://media"/>
            <a:extLst>
              <a:ext uri="{FF2B5EF4-FFF2-40B4-BE49-F238E27FC236}">
                <a16:creationId xmlns:a16="http://schemas.microsoft.com/office/drawing/2014/main" id="{16F013D7-BBF2-1AAB-87C9-6FB30085C55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F11F1A3-0390-2DA1-B9DB-61CA387FEC7F}"/>
              </a:ext>
            </a:extLst>
          </p:cNvPr>
          <p:cNvSpPr/>
          <p:nvPr/>
        </p:nvSpPr>
        <p:spPr>
          <a:xfrm>
            <a:off x="386443" y="5987143"/>
            <a:ext cx="11419114" cy="66402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498B32A8-6B76-BECA-F00D-61C6D0B4495F}"/>
              </a:ext>
            </a:extLst>
          </p:cNvPr>
          <p:cNvSpPr/>
          <p:nvPr/>
        </p:nvSpPr>
        <p:spPr>
          <a:xfrm>
            <a:off x="386443" y="337457"/>
            <a:ext cx="11419114" cy="5344888"/>
          </a:xfrm>
          <a:prstGeom prst="roundRect">
            <a:avLst>
              <a:gd name="adj" fmla="val 1150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77C2D8D-95A6-CB7B-6601-CEA8C4F1DF6E}"/>
              </a:ext>
            </a:extLst>
          </p:cNvPr>
          <p:cNvSpPr/>
          <p:nvPr/>
        </p:nvSpPr>
        <p:spPr>
          <a:xfrm>
            <a:off x="4944832" y="5987142"/>
            <a:ext cx="2302330" cy="664029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8F1FD6F-8C28-8E1F-47D7-EE9A9F0B7300}"/>
              </a:ext>
            </a:extLst>
          </p:cNvPr>
          <p:cNvSpPr txBox="1"/>
          <p:nvPr/>
        </p:nvSpPr>
        <p:spPr>
          <a:xfrm>
            <a:off x="962871" y="337457"/>
            <a:ext cx="1026625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>
                <a:latin typeface="Abadi" panose="020B0604020104020204" pitchFamily="34" charset="0"/>
              </a:rPr>
              <a:t>Pollution des habitats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B63C2CD-3D8B-5EE1-E39A-2BF37E916F94}"/>
              </a:ext>
            </a:extLst>
          </p:cNvPr>
          <p:cNvSpPr txBox="1"/>
          <p:nvPr/>
        </p:nvSpPr>
        <p:spPr>
          <a:xfrm>
            <a:off x="5565242" y="6129048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Impact 2</a:t>
            </a:r>
          </a:p>
        </p:txBody>
      </p:sp>
      <p:pic>
        <p:nvPicPr>
          <p:cNvPr id="8" name="Image 7" descr="Une cartographie sans précédent révèle une perte de 220 millions d ...">
            <a:extLst>
              <a:ext uri="{FF2B5EF4-FFF2-40B4-BE49-F238E27FC236}">
                <a16:creationId xmlns:a16="http://schemas.microsoft.com/office/drawing/2014/main" id="{49AE9123-2232-D86B-5620-120D3DB19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510" y="1561598"/>
            <a:ext cx="4981294" cy="37348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 8" descr="Covering Conflict in the Central African Republic: Photos | TIME">
            <a:extLst>
              <a:ext uri="{FF2B5EF4-FFF2-40B4-BE49-F238E27FC236}">
                <a16:creationId xmlns:a16="http://schemas.microsoft.com/office/drawing/2014/main" id="{371331B2-205C-9045-3269-FA32B0B226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6247" y="1561597"/>
            <a:ext cx="4982734" cy="26076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686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18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36386-DC5F-761C-405D-30D96E4DE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Vidéo 6">
            <a:hlinkClick r:id="" action="ppaction://media"/>
            <a:extLst>
              <a:ext uri="{FF2B5EF4-FFF2-40B4-BE49-F238E27FC236}">
                <a16:creationId xmlns:a16="http://schemas.microsoft.com/office/drawing/2014/main" id="{221D560B-CAF9-0CBA-12E2-340AAC36946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B0F8B5F-DAA9-D086-0B9A-543D28164ABE}"/>
              </a:ext>
            </a:extLst>
          </p:cNvPr>
          <p:cNvSpPr/>
          <p:nvPr/>
        </p:nvSpPr>
        <p:spPr>
          <a:xfrm>
            <a:off x="386443" y="5987143"/>
            <a:ext cx="11419114" cy="66402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41F0B91-C43F-6A9C-D32F-2A9A3EFCB1F1}"/>
              </a:ext>
            </a:extLst>
          </p:cNvPr>
          <p:cNvSpPr/>
          <p:nvPr/>
        </p:nvSpPr>
        <p:spPr>
          <a:xfrm>
            <a:off x="386443" y="337457"/>
            <a:ext cx="11419114" cy="5344888"/>
          </a:xfrm>
          <a:prstGeom prst="roundRect">
            <a:avLst>
              <a:gd name="adj" fmla="val 1150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FFF557D-C2C3-D6C9-FC13-2A856FD3D1B7}"/>
              </a:ext>
            </a:extLst>
          </p:cNvPr>
          <p:cNvSpPr/>
          <p:nvPr/>
        </p:nvSpPr>
        <p:spPr>
          <a:xfrm>
            <a:off x="7219946" y="5987142"/>
            <a:ext cx="2302330" cy="664029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A61C4DF-FF54-AE1E-3225-158585F16566}"/>
              </a:ext>
            </a:extLst>
          </p:cNvPr>
          <p:cNvSpPr txBox="1"/>
          <p:nvPr/>
        </p:nvSpPr>
        <p:spPr>
          <a:xfrm>
            <a:off x="962871" y="337457"/>
            <a:ext cx="1026625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>
                <a:latin typeface="Abadi" panose="020B0604020104020204" pitchFamily="34" charset="0"/>
              </a:rPr>
              <a:t>Changement climatique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3C34FEF-D074-C9A9-2EFB-83BE9B172695}"/>
              </a:ext>
            </a:extLst>
          </p:cNvPr>
          <p:cNvSpPr txBox="1"/>
          <p:nvPr/>
        </p:nvSpPr>
        <p:spPr>
          <a:xfrm>
            <a:off x="7840356" y="6118163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Impact 3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43F75D3-5833-0C3D-A893-7FF420B49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655" y="1556965"/>
            <a:ext cx="5993110" cy="37440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462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18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1DEB5-53B3-AE90-D13D-E8DB004E4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Vidéo 6">
            <a:hlinkClick r:id="" action="ppaction://media"/>
            <a:extLst>
              <a:ext uri="{FF2B5EF4-FFF2-40B4-BE49-F238E27FC236}">
                <a16:creationId xmlns:a16="http://schemas.microsoft.com/office/drawing/2014/main" id="{31949A14-E804-5343-B3B0-4E00CB4EB74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6C67B49A-8901-FC88-A0D6-7F5B3F788F57}"/>
              </a:ext>
            </a:extLst>
          </p:cNvPr>
          <p:cNvSpPr/>
          <p:nvPr/>
        </p:nvSpPr>
        <p:spPr>
          <a:xfrm>
            <a:off x="386443" y="5987143"/>
            <a:ext cx="11419114" cy="66402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4B382A96-2C5E-DC61-EF80-97486183BC47}"/>
              </a:ext>
            </a:extLst>
          </p:cNvPr>
          <p:cNvSpPr/>
          <p:nvPr/>
        </p:nvSpPr>
        <p:spPr>
          <a:xfrm>
            <a:off x="386443" y="337457"/>
            <a:ext cx="11419114" cy="5344888"/>
          </a:xfrm>
          <a:prstGeom prst="roundRect">
            <a:avLst>
              <a:gd name="adj" fmla="val 1150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0D4EDA7-A41B-5E98-D6EF-7C2760433E0C}"/>
              </a:ext>
            </a:extLst>
          </p:cNvPr>
          <p:cNvSpPr/>
          <p:nvPr/>
        </p:nvSpPr>
        <p:spPr>
          <a:xfrm>
            <a:off x="9503226" y="5987143"/>
            <a:ext cx="2302330" cy="664029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0ACE026-167F-2E4A-06EF-F89AB7BD784E}"/>
              </a:ext>
            </a:extLst>
          </p:cNvPr>
          <p:cNvSpPr txBox="1"/>
          <p:nvPr/>
        </p:nvSpPr>
        <p:spPr>
          <a:xfrm>
            <a:off x="962871" y="337457"/>
            <a:ext cx="1026625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>
                <a:latin typeface="Abadi" panose="020B0604020104020204" pitchFamily="34" charset="0"/>
              </a:rPr>
              <a:t>Surexploitation des espèces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E152628-5477-6217-4D6A-D7FE297768F3}"/>
              </a:ext>
            </a:extLst>
          </p:cNvPr>
          <p:cNvSpPr txBox="1"/>
          <p:nvPr/>
        </p:nvSpPr>
        <p:spPr>
          <a:xfrm>
            <a:off x="10123636" y="6134491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Impact 4</a:t>
            </a:r>
          </a:p>
        </p:txBody>
      </p:sp>
      <p:pic>
        <p:nvPicPr>
          <p:cNvPr id="3074" name="Picture 2" descr="La surexploitation des espèces sauvages menace des milliards d'humains ...">
            <a:extLst>
              <a:ext uri="{FF2B5EF4-FFF2-40B4-BE49-F238E27FC236}">
                <a16:creationId xmlns:a16="http://schemas.microsoft.com/office/drawing/2014/main" id="{59053D0F-0A8D-C4A5-1CCF-7D793A76F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028" y="1595845"/>
            <a:ext cx="6030685" cy="36184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3549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18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8AA88-85DD-F1DB-8C49-FC31AE910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Vidéo 6">
            <a:hlinkClick r:id="" action="ppaction://media"/>
            <a:extLst>
              <a:ext uri="{FF2B5EF4-FFF2-40B4-BE49-F238E27FC236}">
                <a16:creationId xmlns:a16="http://schemas.microsoft.com/office/drawing/2014/main" id="{125BA931-15FB-6DD0-BD12-FA81D116238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D8418B0F-3D8C-3012-742D-2E86AACB88AF}"/>
              </a:ext>
            </a:extLst>
          </p:cNvPr>
          <p:cNvSpPr/>
          <p:nvPr/>
        </p:nvSpPr>
        <p:spPr>
          <a:xfrm>
            <a:off x="386443" y="5987143"/>
            <a:ext cx="11419114" cy="66402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E505E684-4771-1927-F4EA-A85E7BC9AE6F}"/>
              </a:ext>
            </a:extLst>
          </p:cNvPr>
          <p:cNvSpPr/>
          <p:nvPr/>
        </p:nvSpPr>
        <p:spPr>
          <a:xfrm>
            <a:off x="386443" y="337457"/>
            <a:ext cx="11419114" cy="5344888"/>
          </a:xfrm>
          <a:prstGeom prst="roundRect">
            <a:avLst>
              <a:gd name="adj" fmla="val 1150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BAB29D9-BC24-2C87-573E-FD63A85E12D6}"/>
              </a:ext>
            </a:extLst>
          </p:cNvPr>
          <p:cNvSpPr/>
          <p:nvPr/>
        </p:nvSpPr>
        <p:spPr>
          <a:xfrm>
            <a:off x="386441" y="5987143"/>
            <a:ext cx="11419116" cy="664029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116B765-1F08-6A17-330F-FBFE542AA653}"/>
              </a:ext>
            </a:extLst>
          </p:cNvPr>
          <p:cNvSpPr txBox="1"/>
          <p:nvPr/>
        </p:nvSpPr>
        <p:spPr>
          <a:xfrm>
            <a:off x="962871" y="337457"/>
            <a:ext cx="1026625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dirty="0">
                <a:latin typeface="Abadi" panose="020B0604020104020204" pitchFamily="34" charset="0"/>
              </a:rPr>
              <a:t>Conclusion</a:t>
            </a:r>
          </a:p>
        </p:txBody>
      </p:sp>
      <p:pic>
        <p:nvPicPr>
          <p:cNvPr id="4098" name="Picture 2" descr="Les forêts tropicales peuvent se régénérer en vingt ans - Un monde meilleur">
            <a:extLst>
              <a:ext uri="{FF2B5EF4-FFF2-40B4-BE49-F238E27FC236}">
                <a16:creationId xmlns:a16="http://schemas.microsoft.com/office/drawing/2014/main" id="{EDB26A2C-4EC3-8D82-5F9C-050ABD608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355" y="1729237"/>
            <a:ext cx="5274642" cy="3520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La canopée verte de la forêt tropicale vue aérienne | Image Premium ...">
            <a:extLst>
              <a:ext uri="{FF2B5EF4-FFF2-40B4-BE49-F238E27FC236}">
                <a16:creationId xmlns:a16="http://schemas.microsoft.com/office/drawing/2014/main" id="{AD7845D2-5F7B-2894-CF23-DBD99DD4F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918" y="1729237"/>
            <a:ext cx="5056924" cy="28354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7268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18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B06EA-30E5-D46B-A6A4-FC077214C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idéo 6">
            <a:hlinkClick r:id="" action="ppaction://media"/>
            <a:extLst>
              <a:ext uri="{FF2B5EF4-FFF2-40B4-BE49-F238E27FC236}">
                <a16:creationId xmlns:a16="http://schemas.microsoft.com/office/drawing/2014/main" id="{D7EBB3AD-E263-1641-1878-C7E7C0B83B2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70937991-0E48-C2FF-0A21-3D806D83CA52}"/>
              </a:ext>
            </a:extLst>
          </p:cNvPr>
          <p:cNvSpPr/>
          <p:nvPr/>
        </p:nvSpPr>
        <p:spPr>
          <a:xfrm>
            <a:off x="2673855" y="1517466"/>
            <a:ext cx="6864749" cy="3794760"/>
          </a:xfrm>
          <a:prstGeom prst="roundRect">
            <a:avLst>
              <a:gd name="adj" fmla="val 1150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3D9230D-1764-086D-381E-BEA86FED9259}"/>
              </a:ext>
            </a:extLst>
          </p:cNvPr>
          <p:cNvSpPr txBox="1"/>
          <p:nvPr/>
        </p:nvSpPr>
        <p:spPr>
          <a:xfrm>
            <a:off x="3135093" y="1060356"/>
            <a:ext cx="5921814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0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4135010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18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1291</TotalTime>
  <Words>43</Words>
  <Application>Microsoft Office PowerPoint</Application>
  <PresentationFormat>Grand écran</PresentationFormat>
  <Paragraphs>15</Paragraphs>
  <Slides>8</Slides>
  <Notes>1</Notes>
  <HiddenSlides>0</HiddenSlides>
  <MMClips>8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Abadi</vt:lpstr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camille.marchandbelmont</dc:creator>
  <cp:lastModifiedBy>camille.marchandbelmont</cp:lastModifiedBy>
  <cp:revision>8</cp:revision>
  <dcterms:created xsi:type="dcterms:W3CDTF">2025-10-10T12:41:46Z</dcterms:created>
  <dcterms:modified xsi:type="dcterms:W3CDTF">2025-11-14T16:00:34Z</dcterms:modified>
</cp:coreProperties>
</file>